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731520"/>
            <a:ext cx="3200400" cy="3200400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2926080"/>
            <a:ext cx="1828800" cy="18288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630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→ GitLab Dedicated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Migration Strategy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1089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Pipeline Templating · Onboarding  |  DevSecOps Team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Team  |  GitLab Dedicated Migration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Overview &amp; Three-Team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ADO → GitLab Dedicated Migration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2743200" cy="457200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85039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2104" y="8503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Team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pattern analysis, flow diagrams, infra change recommendations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2468880" cy="0"/>
          </a:xfrm>
          <a:prstGeom prst="line">
            <a:avLst/>
          </a:prstGeom>
          <a:noFill/>
          <a:ln w="12700">
            <a:solidFill>
              <a:srgbClr val="E8EE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77724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777240"/>
            <a:ext cx="2743200" cy="457200"/>
          </a:xfrm>
          <a:prstGeom prst="rect">
            <a:avLst/>
          </a:prstGeom>
          <a:solidFill>
            <a:srgbClr val="2E6EBF"/>
          </a:solidFill>
          <a:ln/>
        </p:spPr>
      </p:sp>
      <p:sp>
        <p:nvSpPr>
          <p:cNvPr id="14" name="Text 12"/>
          <p:cNvSpPr/>
          <p:nvPr/>
        </p:nvSpPr>
        <p:spPr>
          <a:xfrm>
            <a:off x="3282696" y="85039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85032" y="8503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Template Team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13075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GitLab CI/CD templates per pattern; test end-to-end on DO branching model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10128" y="2039112"/>
            <a:ext cx="2468880" cy="0"/>
          </a:xfrm>
          <a:prstGeom prst="line">
            <a:avLst/>
          </a:prstGeom>
          <a:noFill/>
          <a:ln w="12700">
            <a:solidFill>
              <a:srgbClr val="E8EE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25896" y="77724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25896" y="777240"/>
            <a:ext cx="2743200" cy="4572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6135624" y="85039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37960" y="8503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Team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63056" y="13075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.gitlab-ci.yml to each migrated repo; wire variables &amp; integrations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63056" y="2039112"/>
            <a:ext cx="2468880" cy="0"/>
          </a:xfrm>
          <a:prstGeom prst="line">
            <a:avLst/>
          </a:prstGeom>
          <a:noFill/>
          <a:ln w="12700">
            <a:solidFill>
              <a:srgbClr val="E8EE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177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tooling: Congregate Tool  |  Source control: GitLab Dedicated  |  Origin: Azure DevOps (ADO)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Team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Pattern Analysis · Flow Diagrams · Infra Change Recommendations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Team  |  GitLab Dedicated Migration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Team – Scope &amp; Responsibilities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ADO → GitLab Dedicated Migration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3152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31520"/>
            <a:ext cx="4114800" cy="347472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76809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Composition &amp; Mission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38953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member team dedicated to pipeline design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all existing ADO pipeline patterns across application portfolio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standard flow diagrams per pattern (build → test → scan → publish → deploy)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infrastructure changes required per pattern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73152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31520"/>
            <a:ext cx="4160520" cy="347472"/>
          </a:xfrm>
          <a:prstGeom prst="rect">
            <a:avLst/>
          </a:prstGeom>
          <a:solidFill>
            <a:srgbClr val="2E6EBF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768096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133856"/>
            <a:ext cx="394106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diagram per pipeline pattern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type matrix (shared vs. tagged)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dependency list (Windows runner, IIS, OpenShift, Tomcat etc.)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catalogue shared with Pipeline Template Team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2788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Patterns Covered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127248"/>
            <a:ext cx="256032" cy="25603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1455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Node / Angular → OpenShift (container)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630168"/>
            <a:ext cx="256032" cy="25603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6484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Core / Framework → IIS (Windows runner)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4133088"/>
            <a:ext cx="256032" cy="25603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" y="41513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Angular / Node → Tomcat / Windows Host (War/Jar)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127248"/>
            <a:ext cx="256032" cy="25603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2" name="Text 20"/>
          <p:cNvSpPr/>
          <p:nvPr/>
        </p:nvSpPr>
        <p:spPr>
          <a:xfrm>
            <a:off x="5102352" y="31455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Oracle / SQL Server / Postgres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3630168"/>
            <a:ext cx="256032" cy="25603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4" name="Text 22"/>
          <p:cNvSpPr/>
          <p:nvPr/>
        </p:nvSpPr>
        <p:spPr>
          <a:xfrm>
            <a:off x="5102352" y="36484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ETL: SSIS / SSRS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4133088"/>
            <a:ext cx="256032" cy="25603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6" name="Text 24"/>
          <p:cNvSpPr/>
          <p:nvPr/>
        </p:nvSpPr>
        <p:spPr>
          <a:xfrm>
            <a:off x="5102352" y="41513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SaaS: Salesforce / Other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 – Container Apps: Java / Node / Angular → OpenShift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ADO → GitLab Dedicated Migration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1115568" cy="1005840"/>
          </a:xfrm>
          <a:prstGeom prst="rect">
            <a:avLst/>
          </a:prstGeom>
          <a:solidFill>
            <a:srgbClr val="1E4D8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77724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44168" y="1280160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53896" y="1188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472184" y="777240"/>
            <a:ext cx="1115568" cy="1005840"/>
          </a:xfrm>
          <a:prstGeom prst="rect">
            <a:avLst/>
          </a:prstGeom>
          <a:solidFill>
            <a:srgbClr val="2E6EB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72184" y="77724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(Java/Node/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87752" y="1280160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188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715768" y="777240"/>
            <a:ext cx="1115568" cy="1005840"/>
          </a:xfrm>
          <a:prstGeom prst="rect">
            <a:avLst/>
          </a:prstGeom>
          <a:solidFill>
            <a:srgbClr val="2E6EB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15768" y="77724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31336" y="1280160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41064" y="1188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959352" y="777240"/>
            <a:ext cx="1115568" cy="1005840"/>
          </a:xfrm>
          <a:prstGeom prst="rect">
            <a:avLst/>
          </a:prstGeom>
          <a:solidFill>
            <a:srgbClr val="E8821A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59352" y="77724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(SAST/DAST)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74920" y="1280160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1188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202936" y="777240"/>
            <a:ext cx="1115568" cy="1005840"/>
          </a:xfrm>
          <a:prstGeom prst="rect">
            <a:avLst/>
          </a:prstGeom>
          <a:solidFill>
            <a:srgbClr val="3D4E5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02936" y="77724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(Artifactory)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18504" y="1280160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28232" y="1188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446520" y="777240"/>
            <a:ext cx="1115568" cy="1005840"/>
          </a:xfrm>
          <a:prstGeom prst="rect">
            <a:avLst/>
          </a:prstGeom>
          <a:solidFill>
            <a:srgbClr val="1E4D8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46520" y="77724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562088" y="1280160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71816" y="1188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690104" y="777240"/>
            <a:ext cx="1115568" cy="1005840"/>
          </a:xfrm>
          <a:prstGeom prst="rect">
            <a:avLst/>
          </a:prstGeom>
          <a:solidFill>
            <a:srgbClr val="2E8B5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90104" y="77724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1938528"/>
            <a:ext cx="8503920" cy="0"/>
          </a:xfrm>
          <a:prstGeom prst="line">
            <a:avLst/>
          </a:prstGeom>
          <a:noFill/>
          <a:ln w="12700">
            <a:solidFill>
              <a:srgbClr val="E8EE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057400"/>
            <a:ext cx="411480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2057400"/>
            <a:ext cx="4114800" cy="347472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" y="209397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&amp; Infrastructure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29768" y="2459736"/>
            <a:ext cx="38953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GitLab Runner (no tag required)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templates already available for build/test/scan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socket or Kaniko for Docker build in container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deploy via Helm / oc CLI in shared template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Windows runner needed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2057400"/>
            <a:ext cx="416052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2057400"/>
            <a:ext cx="4160520" cy="347472"/>
          </a:xfrm>
          <a:prstGeom prst="rect">
            <a:avLst/>
          </a:prstGeom>
          <a:solidFill>
            <a:srgbClr val="2E6EBF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2093976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 &amp; Infra Changes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73168" y="2459736"/>
            <a:ext cx="394106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existing container pipeline GitLab templates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Artifactory credentials wired as CI/CD variables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Aqua/Snyk scan stage uses shared template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namespace/project must be pre-provisioned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tag strategy: Git SHA + semantic version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 – .NET Core / Framework: Build &amp; Deploy to IIS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ADO → GitLab Dedicated Migration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1115568" cy="1005840"/>
          </a:xfrm>
          <a:prstGeom prst="rect">
            <a:avLst/>
          </a:prstGeom>
          <a:solidFill>
            <a:srgbClr val="1E4D8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77724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44168" y="1280160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53896" y="1188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472184" y="777240"/>
            <a:ext cx="1115568" cy="1005840"/>
          </a:xfrm>
          <a:prstGeom prst="rect">
            <a:avLst/>
          </a:prstGeom>
          <a:solidFill>
            <a:srgbClr val="2E6EB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72184" y="77724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(msbuild)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87752" y="1280160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188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715768" y="777240"/>
            <a:ext cx="1115568" cy="1005840"/>
          </a:xfrm>
          <a:prstGeom prst="rect">
            <a:avLst/>
          </a:prstGeom>
          <a:solidFill>
            <a:srgbClr val="2E6EB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15768" y="77724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(xUnit/NUnit)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31336" y="1280160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41064" y="1188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959352" y="777240"/>
            <a:ext cx="1115568" cy="1005840"/>
          </a:xfrm>
          <a:prstGeom prst="rect">
            <a:avLst/>
          </a:prstGeom>
          <a:solidFill>
            <a:srgbClr val="E8821A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59352" y="77724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74920" y="1280160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1188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202936" y="777240"/>
            <a:ext cx="1115568" cy="1005840"/>
          </a:xfrm>
          <a:prstGeom prst="rect">
            <a:avLst/>
          </a:prstGeom>
          <a:solidFill>
            <a:srgbClr val="3D4E5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02936" y="77724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18504" y="1280160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28232" y="1188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446520" y="777240"/>
            <a:ext cx="1115568" cy="100584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46520" y="77724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(secrets)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562088" y="1280160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71816" y="1188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690104" y="777240"/>
            <a:ext cx="1115568" cy="1005840"/>
          </a:xfrm>
          <a:prstGeom prst="rect">
            <a:avLst/>
          </a:prstGeom>
          <a:solidFill>
            <a:srgbClr val="2E8B5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90104" y="77724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IIS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1938528"/>
            <a:ext cx="8503920" cy="0"/>
          </a:xfrm>
          <a:prstGeom prst="line">
            <a:avLst/>
          </a:prstGeom>
          <a:noFill/>
          <a:ln w="12700">
            <a:solidFill>
              <a:srgbClr val="E8EE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057400"/>
            <a:ext cx="411480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2057400"/>
            <a:ext cx="4114800" cy="347472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" y="209397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Strategy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29768" y="2459736"/>
            <a:ext cx="38953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Framework build/test → Windows TAGGED runner required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Core build/test → Shared runner acceptable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(Node/Angular) within same repo → Shared runner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 deploy stage → Windows TAGGED runner (tagged: windows)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syntax: tags: [windows]  in job definition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2057400"/>
            <a:ext cx="416052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2057400"/>
            <a:ext cx="4160520" cy="347472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2093976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Config Injection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73168" y="2459736"/>
            <a:ext cx="394106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pipeline secrets from GitLab CI/CD variables or HashiCorp Vault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web.config / appsettings.json values at deploy stage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envsubst or PowerShell token-replace script in template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secrets stored as masked/protected variables in GitLab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Infra: Windows runner agent must have access to IIS target host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 – Java / Node / Angular → Tomcat / Windows Host (War/Jar)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ADO → GitLab Dedicated Migration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1115568" cy="1005840"/>
          </a:xfrm>
          <a:prstGeom prst="rect">
            <a:avLst/>
          </a:prstGeom>
          <a:solidFill>
            <a:srgbClr val="1E4D8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77724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44168" y="1280160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53896" y="1188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472184" y="777240"/>
            <a:ext cx="1115568" cy="1005840"/>
          </a:xfrm>
          <a:prstGeom prst="rect">
            <a:avLst/>
          </a:prstGeom>
          <a:solidFill>
            <a:srgbClr val="2E6EB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72184" y="77724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(Maven/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Gradle/npm)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87752" y="1280160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188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715768" y="777240"/>
            <a:ext cx="1115568" cy="1005840"/>
          </a:xfrm>
          <a:prstGeom prst="rect">
            <a:avLst/>
          </a:prstGeom>
          <a:solidFill>
            <a:srgbClr val="2E6EB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15768" y="77724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31336" y="1280160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41064" y="1188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959352" y="777240"/>
            <a:ext cx="1115568" cy="1005840"/>
          </a:xfrm>
          <a:prstGeom prst="rect">
            <a:avLst/>
          </a:prstGeom>
          <a:solidFill>
            <a:srgbClr val="E8821A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59352" y="77724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74920" y="1280160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1188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202936" y="777240"/>
            <a:ext cx="1115568" cy="1005840"/>
          </a:xfrm>
          <a:prstGeom prst="rect">
            <a:avLst/>
          </a:prstGeom>
          <a:solidFill>
            <a:srgbClr val="3D4E5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02936" y="77724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War/Jar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(Artifactory)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18504" y="1280160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28232" y="1188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446520" y="777240"/>
            <a:ext cx="1115568" cy="1005840"/>
          </a:xfrm>
          <a:prstGeom prst="rect">
            <a:avLst/>
          </a:prstGeom>
          <a:solidFill>
            <a:srgbClr val="3D4E5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46520" y="77724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562088" y="1280160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71816" y="1188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690104" y="777240"/>
            <a:ext cx="1115568" cy="1005840"/>
          </a:xfrm>
          <a:prstGeom prst="rect">
            <a:avLst/>
          </a:prstGeom>
          <a:solidFill>
            <a:srgbClr val="2E8B5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90104" y="77724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1938528"/>
            <a:ext cx="8503920" cy="0"/>
          </a:xfrm>
          <a:prstGeom prst="line">
            <a:avLst/>
          </a:prstGeom>
          <a:noFill/>
          <a:ln w="12700">
            <a:solidFill>
              <a:srgbClr val="E8EE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057400"/>
            <a:ext cx="411480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2057400"/>
            <a:ext cx="4114800" cy="347472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" y="209397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Strategy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29768" y="2459736"/>
            <a:ext cx="38953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stages (Build, Test, Scan, Publish) → Shared Runner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stage (Stop/Deploy/Start service) → Windows or Linux TAGGED runner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tag: windows or linux depending on target host 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runner must have Maven/Gradle/Node toolchain available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deploy runner must have SSH or WinRM access to target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2057400"/>
            <a:ext cx="416052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2057400"/>
            <a:ext cx="4160520" cy="347472"/>
          </a:xfrm>
          <a:prstGeom prst="rect">
            <a:avLst/>
          </a:prstGeom>
          <a:solidFill>
            <a:srgbClr val="2E6EBF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2093976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Notes &amp; Infra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73168" y="2459736"/>
            <a:ext cx="394106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Tomcat/service → deploy War/Jar → restart service in single deploy job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management via systemctl (Linux) or sc.exe (Windows)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fetched from Artifactory (not rebuilt) at deploy stage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 re-deploy previous artifact version from Artifactory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Infra: tagged runner host needs Tomcat or app-server pre-installed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4–6 – Database / ETL / SaaS Deployments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ADO → GitLab Dedicated Migration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49808"/>
            <a:ext cx="2697480" cy="347472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786384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4 – Database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(Oracle / SQL Server / Postgres)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152144"/>
            <a:ext cx="2478024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SO (Standing Order) templates available – reuse where possible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app DB scripts: follow standard format (versioned migration scripts)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deploy stage: tagged runner (Windows for SQL Server/Oracle; Linux for Postgres)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or Liquibase recommended for schema versioning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Secrets: DB credentials via protected CI/CD variables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scripts required alongside each migration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18688" y="749808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749808"/>
            <a:ext cx="2697480" cy="347472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12" name="Text 10"/>
          <p:cNvSpPr/>
          <p:nvPr/>
        </p:nvSpPr>
        <p:spPr>
          <a:xfrm>
            <a:off x="3328416" y="786384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5 – ETL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(SSIS / SSRS)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28416" y="1152144"/>
            <a:ext cx="2478024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SSIS packages: deploy via Windows tagged runner (dtutil / SSDT)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SSRS reports: deploy via Windows tagged runner (rs.exe / REST API)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stages: Build package → Security Scan → Deploy to SSRS/SSIS server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transformations for environment-specific connection strings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Infra: Windows runner with SQL Server Data Tools (SSDT) installed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runner: all stages require Windows tagged runner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17336" y="749808"/>
            <a:ext cx="2706624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749808"/>
            <a:ext cx="2706624" cy="34747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6227064" y="78638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6 – SaaS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(Salesforce / Others)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27064" y="1152144"/>
            <a:ext cx="2487168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Salesforce: SFDX CLI-based deployment from shared or tagged runner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Validate metadata → Run Apex tests → Deploy to org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SaaS (e.g. Anaplan, Workday): API-based deployment script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diagram may change depending on ADO pattern found – review per app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Infra: Confirm CLI tools / API keys available on runner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team to document per-SaaS flow after ADO pattern review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Team – Runner Infrastructure Reference per Pattern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ADO → GitLab Dedicated Migration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Infrastructure Detail  (to be shared with Pipeline Template Team)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87552"/>
          <a:ext cx="85039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88720"/>
                <a:gridCol w="1188720"/>
                <a:gridCol w="141732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Runner Type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Runner Type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Runner Tag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Runner Pre-requisites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8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→ OpenShift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(any OS)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(any OS)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(shared)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daemon or Kaniko; oc CLI; Helm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.NET Framework → IIS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TAGGED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TAGGED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tags: [windows]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msbuild, NuGet, .NET Framework SDK; WinRM to IIS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.NET Core → IIS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(Linux/Windows)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TAGGED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CD: tags: [windows]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dotnet SDK on shared; PowerShell &amp; WinRM on tagged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/ Angular → IIS/OpenShift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(Linux)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or Win TAGGED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/ tags: [windows]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Node/npm on shared; oc CLI or WinRM for deploy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Java/War/Jar → Tomcat/WinHost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(Linux)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or Linux TAGGED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tags: [windows] or [linux]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Maven/Gradle on shared; SSH/WinRM + Tomcat on tagged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Oracle/SQL Server/Postgres DB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(script lint)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or Linux TAGGED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tags: [windows] or [linux]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sqlplus/sqlcmd/psql on tagged runner; Flyway optional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SSIS / SSRS (ETL)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TAGGED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TAGGED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tags: [windows]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SSDT / dtutil / rs.exe; SQL Server connectivity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 / SaaS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(Linux)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or TAGGED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tool requirement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SFDX CLI or tool-specific SDK; API credentials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Team – Handoff Document to Pipeline Template Team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ADO → GitLab Dedicated Migration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4114800" cy="2029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13232"/>
            <a:ext cx="4114800" cy="347472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74980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Design Team Must Capture per Pattern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115568"/>
            <a:ext cx="38953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flow diagram (all stages with stage names)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type per stage: Shared / Windows TAGGED / Linux TAGGED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tag value used in .gitlab-ci.yml (e.g. tags: [windows])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dependencies (tools, CLIs, OS, connectivity)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 tools required: Snyk, Aqua, SAST, DAST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Publish/artifact target: Artifactory repo name &amp; format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713232"/>
            <a:ext cx="4160520" cy="2029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13232"/>
            <a:ext cx="4160520" cy="347472"/>
          </a:xfrm>
          <a:prstGeom prst="rect">
            <a:avLst/>
          </a:prstGeom>
          <a:solidFill>
            <a:srgbClr val="2E6EBF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749808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Document Format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115568"/>
            <a:ext cx="3941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handoff doc per pipeline pattern (markdown or confluence page)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Include: pattern name, app examples, flow diagram image/link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Include: runner tag reference table (from runner infra slide)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Include: environment variable names required (not values)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Include: infra change requests raised (e.g. new runner, new IIS site)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sign off by both Design Team lead and Pipeline Team lead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852928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52928"/>
            <a:ext cx="4114800" cy="347472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288950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Team Must Also Capture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" y="3255264"/>
            <a:ext cx="389534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ADO pipeline pattern NOT covered by the 6 standard patterns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pre/post deploy hooks or approval gates used in 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Environment-specific overrides (e.g. prod uses different runner or tool)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compliance/audit requirements that affect pipeline structure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852928"/>
            <a:ext cx="416052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852928"/>
            <a:ext cx="4160520" cy="34747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2889504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Team Reads Handoff and: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73168" y="3255264"/>
            <a:ext cx="394106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runner availability and tag names with GitLab admin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template branch in template repo per pattern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.gitlab-ci.yml template based on design flow diagram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proceed to code until handoff doc is signed off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Template Team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 &amp; Publish GitLab CI/CD Templates per Pattern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Team  |  GitLab Dedicated Migration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Template Team – Responsibilities &amp;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ADO → GitLab Dedicated Migration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49808"/>
            <a:ext cx="41148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78638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Responsibilities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152144"/>
            <a:ext cx="389534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GitLab CI/CD template files (.gitlab-ci.yml includes) for each pattern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DO branching model (develop → release → main) in pipeline logic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each template end-to-end in a sandbox GitLab Dedicated project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template versioning in a central template repository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749808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49808"/>
            <a:ext cx="4160520" cy="347472"/>
          </a:xfrm>
          <a:prstGeom prst="rect">
            <a:avLst/>
          </a:prstGeom>
          <a:solidFill>
            <a:srgbClr val="2E6EBF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786384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Branching Model in Pipelines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152144"/>
            <a:ext cx="39410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branch: triggers build + test + scan (CI only)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release/* branch: triggers full pipeline incl. staging deploy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/ production branch: triggers production deploy with approval gate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request pipelines: lint + unit test + SAST only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26060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Requirements per Pattern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889504"/>
          <a:ext cx="85039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834640"/>
              </a:tblGrid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(Build / Test / Scan)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(Deploy)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8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→ OpenShift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Runner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Runner (oc CLI template)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.NET Framework → IIS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TAGGED Runner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TAGGED Runner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.NET Core → IIS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Runner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TAGGED Runner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/ Angular → IIS / OpenShift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Runner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/ Windows 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/ War / Jar → Tomcat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Runner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or Linux 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/ SQL Server / Postgres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Runner (script lint)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or Linux 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SSIS / SSRS (ETL)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TAGGED Runner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TAGGED Runner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 / SaaS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Runner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or TAGGED (per tool)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Template Team – Template Structure &amp; Key Considerations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ADO → GitLab Dedicated Migration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41148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49808"/>
            <a:ext cx="4114800" cy="347472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78638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Repository 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152144"/>
            <a:ext cx="389534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templates/ci/   – shared build/test/scan stages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templates/cd/   – deploy stages per target (openshift, iis, tomcat, db…)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templates/security/ – SAST, DAST, Aqua, Snyk stages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templates/notify/ – Slack / Teams notification stages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.gitlab-ci.yml (root) – include examples per pattern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749808"/>
            <a:ext cx="41605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49808"/>
            <a:ext cx="4160520" cy="347472"/>
          </a:xfrm>
          <a:prstGeom prst="rect">
            <a:avLst/>
          </a:prstGeom>
          <a:solidFill>
            <a:srgbClr val="2E6EBF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786384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Templates to Reuse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152144"/>
            <a:ext cx="394106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build/push → OpenShift: existing shared templates ✓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(SAST.gitlab-ci.yml): GitLab built-in ✓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Aqua/Snyk scan: shared security templates ✓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Artifactory publish: shared publish template ✓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work: IIS deploy, Tomcat/War, DB, SSIS/SSRS, Windows runner jobs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852928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52928"/>
            <a:ext cx="4114800" cy="347472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288950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 Deployment Template (New)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" y="3255264"/>
            <a:ext cx="389534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Windows TAGGED runner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injection step: replace appsettings / web.config tokens using PowerShell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sourced from GitLab protected CI/CD variables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IIS site / app pool after artifact deploy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step before marking deploy success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852928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852928"/>
            <a:ext cx="4160520" cy="34747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2889504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Each Template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73168" y="3255264"/>
            <a:ext cx="39410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template to dedicated test project in GitLab Dedicated sandbox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pipeline on develop, release, and main branches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all stages pass with correct runner type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secret injection and config replacement work correctly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from Design Team before publishing to template registry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Template Team – End-to-End Testing Checklist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ADO → GitLab Dedicated Migration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template MUST pass all checks below before being published to the template registry.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11480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4114800" cy="347472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04241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Stage-by-Stage Validation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408176"/>
            <a:ext cx="389534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Build stage compiles successfully with no errors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Unit test stage runs and results are published to GitLab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Security scan (Snyk/Aqua/SAST) produces a report – no pipeline break on first run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Publish stage uploads artifact to Artifactory with correct path/version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16052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4160520" cy="347472"/>
          </a:xfrm>
          <a:prstGeom prst="rect">
            <a:avLst/>
          </a:prstGeom>
          <a:solidFill>
            <a:srgbClr val="2E6EBF"/>
          </a:solidFill>
          <a:ln/>
        </p:spPr>
      </p:sp>
      <p:sp>
        <p:nvSpPr>
          <p:cNvPr id="13" name="Text 11"/>
          <p:cNvSpPr/>
          <p:nvPr/>
        </p:nvSpPr>
        <p:spPr>
          <a:xfrm>
            <a:off x="4773168" y="1042416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&amp; Tag Validation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73168" y="1408176"/>
            <a:ext cx="39410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Shared runner jobs are NOT picked up by tagged runners (and vice versa)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Windows TAGGED jobs only execute on runners with tags: [windows]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Linux TAGGED jobs only execute on runners with tags: [linux]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No job sits in 'pending' due to missing runner – confirm runner is online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816352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16352"/>
            <a:ext cx="4114800" cy="347472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" y="285292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Config Validation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" y="3218688"/>
            <a:ext cx="389534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Config/secret injection works: tokens replaced correctly in config files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Application starts and passes health-check after deploy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Rollback procedure tested: re-deploy previous artifact succeeds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Environment-scoped variables resolve correctly per branch (dev/staging/prod)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816352"/>
            <a:ext cx="416052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16352"/>
            <a:ext cx="4160520" cy="34747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168" y="2852928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Sign-Off Validation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3218688"/>
            <a:ext cx="394106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Pipeline runs correctly on develop, release/*, and main branches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Merge request pipeline runs lint + unit test + SAST only (no deploy)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Production deploy branch requires approval gate before execution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Design Team lead reviews and signs off the completed template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Template tagged with version (e.g. v1.0.0) and merged to registry repo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Team – GitLab CI/CD Variable Onboarding Guide for App Teams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ADO → GitLab Dedicated Migration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guide is produced by the Pipeline Team and shared with each app team during onboarding.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2743200" cy="347472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04241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Add a Variable in GitLab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408176"/>
            <a:ext cx="2523744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 to your project in GitLab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Navigate: Settings → CI/CD → Variables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'Add variable'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Enter Key (variable name) and Value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Set Type: Variable (text) or File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Check 'Protect variable' for prod secrets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Check 'Mask variable' to hide in logs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Set Environment scope (*, dev, staging, prod)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Click 'Add variable' to save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Group-level vars: use Group → Settings → CI/CD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697480" cy="347472"/>
          </a:xfrm>
          <a:prstGeom prst="rect">
            <a:avLst/>
          </a:prstGeom>
          <a:solidFill>
            <a:srgbClr val="2E6EBF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1042416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Naming Convention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408176"/>
            <a:ext cx="2478024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UPPER_SNAKE_CASE for all variable names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by integration: SNYK_, AQUA_, ART_ (Artifactory)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by target: IIS_, OS_, DB_, OCP_ (OpenShift)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by env: PROD_, STAGING_, DEV_ if env-scoped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ART_API_KEY  (Artifactory API key)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IIS_DEPLOY_HOST  (IIS server hostname)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OCP_PROJECT  (OpenShift project name)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SNYK_TOKEN  (Snyk auth token)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DB_PASSWORD  (Database password)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embed env name in value – use env scope instead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788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05840"/>
            <a:ext cx="2788920" cy="34747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7" name="Text 15"/>
          <p:cNvSpPr/>
          <p:nvPr/>
        </p:nvSpPr>
        <p:spPr>
          <a:xfrm>
            <a:off x="6144768" y="1042416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Required per Pattern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4768" y="1408176"/>
            <a:ext cx="2569464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Container/OpenShift: ART_URL, ART_USER, ART_KEY, OCP_SERVER, OCP_TOKEN, OCP_PROJECT, SNYK_TOKEN, AQUA_PASSWORD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 (.NET): ART_URL, ART_KEY, IIS_HOST, IIS_SITE, IIS_USER, IIS_KEY, SNYK_TOKEN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Tomcat/Jar: ART_URL, ART_KEY, DEPLOY_HOST, DEPLOY_USER, DEPLOY_KEY, SERVICE_NAME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DB_HOST, DB_PORT, DB_NAME, DB_USER, DB_PASSWORD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ETL/SSIS: SSISDB_HOST, SSISDB_USER, SSISDB_PASSWORD, SSRS_URL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SaaS/SF: SFDX_AUTH_URL or SF_CLIENT_ID, SF_CLIENT_SECRET, SF_USERNAME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Team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.gitlab-ci.yml Templates · Wire Variables · Validate Integrations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Team  |  GitLab Dedicated Migration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Team – Process &amp; Responsibilities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ADO → GitLab Dedicated Migration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1234440" cy="914400"/>
          </a:xfrm>
          <a:prstGeom prst="rect">
            <a:avLst/>
          </a:prstGeom>
          <a:solidFill>
            <a:srgbClr val="1E4D8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749808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(Congregate)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490472" y="1207008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1115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691640" y="749808"/>
            <a:ext cx="1234440" cy="914400"/>
          </a:xfrm>
          <a:prstGeom prst="rect">
            <a:avLst/>
          </a:prstGeom>
          <a:solidFill>
            <a:srgbClr val="2E6EB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91640" y="749808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0" y="1207008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5808" y="1115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127248" y="749808"/>
            <a:ext cx="1234440" cy="914400"/>
          </a:xfrm>
          <a:prstGeom prst="rect">
            <a:avLst/>
          </a:prstGeom>
          <a:solidFill>
            <a:srgbClr val="1E4D8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27248" y="749808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.gitlab-ci.yml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61688" y="1207008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1416" y="1115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62856" y="749808"/>
            <a:ext cx="1234440" cy="914400"/>
          </a:xfrm>
          <a:prstGeom prst="rect">
            <a:avLst/>
          </a:prstGeom>
          <a:solidFill>
            <a:srgbClr val="E8821A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62856" y="749808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797296" y="1207008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07024" y="1115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998464" y="749808"/>
            <a:ext cx="1234440" cy="91440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98464" y="749808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32904" y="1207008"/>
            <a:ext cx="201168" cy="0"/>
          </a:xfrm>
          <a:prstGeom prst="line">
            <a:avLst/>
          </a:prstGeom>
          <a:noFill/>
          <a:ln w="19050">
            <a:solidFill>
              <a:srgbClr val="3D4E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42632" y="1115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E5C"/>
                </a:solidFill>
              </a:rPr>
              <a:t>▶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434072" y="749808"/>
            <a:ext cx="1234440" cy="914400"/>
          </a:xfrm>
          <a:prstGeom prst="rect">
            <a:avLst/>
          </a:prstGeom>
          <a:solidFill>
            <a:srgbClr val="2E8B5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34072" y="749808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1828800"/>
            <a:ext cx="8503920" cy="0"/>
          </a:xfrm>
          <a:prstGeom prst="line">
            <a:avLst/>
          </a:prstGeom>
          <a:noFill/>
          <a:ln w="12700">
            <a:solidFill>
              <a:srgbClr val="E8EE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1938528"/>
            <a:ext cx="411480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1938528"/>
            <a:ext cx="41148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" y="197510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Per-Repo Onboarding Checklist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9768" y="2340864"/>
            <a:ext cx="38953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pipeline pattern with app team (container / IIS / Tomcat / DB / ETL / SaaS)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.gitlab-ci.yml referencing correct template include path and version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all required CI/CD variables at project or group level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protected/masked flag set on secrets (tokens, passwords, keys)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runner tags match template requirements (shared or windows/linux tag)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integrations: Snyk project, Aqua registry, Artifactory repo, OpenShift namespace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pipeline on develop branch – confirm all stages green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1938528"/>
            <a:ext cx="416052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938528"/>
            <a:ext cx="4160520" cy="347472"/>
          </a:xfrm>
          <a:prstGeom prst="rect">
            <a:avLst/>
          </a:prstGeom>
          <a:solidFill>
            <a:srgbClr val="2E6EBF"/>
          </a:solidFill>
          <a:ln/>
        </p:spPr>
      </p:sp>
      <p:sp>
        <p:nvSpPr>
          <p:cNvPr id="35" name="Text 33"/>
          <p:cNvSpPr/>
          <p:nvPr/>
        </p:nvSpPr>
        <p:spPr>
          <a:xfrm>
            <a:off x="4773168" y="1975104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Variable Checklist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73168" y="2340864"/>
            <a:ext cx="394106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Snyk: SNYK_TOKEN, SNYK_ORG set; project onboarded in Snyk dashboard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Aqua: AQUA_URL, AQUA_USER, AQUA_PASSWORD set; image registry configured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Artifactory: ARTIFACTORY_URL, ARTIFACTORY_USER, ARTIFACTORY_API_KEY set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OpenShift: OPENSHIFT_SERVER, OPENSHIFT_TOKEN, OPENSHIFT_PROJECT set (container only)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IIS: DEPLOY_HOST, DEPLOY_USER, DEPLOY_KEY, IIS_SITE_NAME (IIS pattern only)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DB_HOST, DB_USER, DB_PASSWORD, DB_NAME (DB pattern only)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Notification: SLACK_WEBHOOK or TEAMS_WEBHOOK for deploy notifications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Team – Variable Strategy &amp; App Team Engagement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ADO → GitLab Dedicated Migration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49808"/>
            <a:ext cx="4114800" cy="347472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78638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Scope Strategy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152144"/>
            <a:ext cx="38953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Group-level variables: org-wide secrets (Artifactory, Snyk, Aqua) – set once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Project-level variables: app-specific (DB creds, IIS host, OpenShift namespace)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Environment-scoped variables: different values per environment (dev/staging/prod)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 secrets in .gitlab-ci.yml – always use GitLab CI/CD variable store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749808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49808"/>
            <a:ext cx="4160520" cy="347472"/>
          </a:xfrm>
          <a:prstGeom prst="rect">
            <a:avLst/>
          </a:prstGeom>
          <a:solidFill>
            <a:srgbClr val="2E6EBF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786384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 Collaboration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152144"/>
            <a:ext cx="394106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onboarding session with app team to confirm pattern &amp; secrets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 provides: deploy targets, service accounts, environment URLs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 reviews generated .gitlab-ci.yml before merging to default branch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team owns first successful pipeline run – then hands off to app team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807208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07208"/>
            <a:ext cx="4114800" cy="347472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284378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Onboarding Issues to Watch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" y="3209544"/>
            <a:ext cx="38953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Windows runner tag → job waits indefinitely (no runner picks it up)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Unmasked secrets → exposed in job logs; must use masked variable flag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Artifactory repo path → artifact not found at deploy stage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namespace not pre-created → deploy job fails with 403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token mismatch → app starts but connects to wrong DB/service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807208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807208"/>
            <a:ext cx="4160520" cy="34747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2843784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&amp; Sign-Off Criteria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73168" y="3209544"/>
            <a:ext cx="394106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pipeline stages pass on develop, release, and main branches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confirmed masked and protected in GitLab variable store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Snyk/Aqua scan results visible in GitLab Security Dashboard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 confirms application is functioning correctly post-deploy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checklist signed off and archived in team wiki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743200" cy="379476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2743200" cy="384048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99669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Design Team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389888"/>
            <a:ext cx="252374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all ADO patterns (6+ types)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flow diagram per pattern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runner requirements &amp; infra changes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pattern catalogue with Pipeline Team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9272" y="960120"/>
            <a:ext cx="2743200" cy="379476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960120"/>
            <a:ext cx="2743200" cy="384048"/>
          </a:xfrm>
          <a:prstGeom prst="rect">
            <a:avLst/>
          </a:prstGeom>
          <a:solidFill>
            <a:srgbClr val="2E6EB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99669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Template Team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389888"/>
            <a:ext cx="252374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new templates: IIS, Tomcat/War, DB, SSIS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Reuse: container, SAST, Aqua/Snyk, Artifactory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all templates on DO branching model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versioned templates to central registry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27064" y="960120"/>
            <a:ext cx="2743200" cy="379476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27064" y="960120"/>
            <a:ext cx="2743200" cy="38404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5" name="Text 13"/>
          <p:cNvSpPr/>
          <p:nvPr/>
        </p:nvSpPr>
        <p:spPr>
          <a:xfrm>
            <a:off x="6336792" y="99669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Onboarding Team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36792" y="1389888"/>
            <a:ext cx="252374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post-Congregate code migration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.gitlab-ci.yml per repo + set variables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Snyk / Aqua / Artifactory integrations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app team sign-off on first successful run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Team  |  GitLab Dedicated Migration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 to GitLab Dedicated Migration – Pipeline Strategy</dc:title>
  <dc:subject>PptxGenJS Presentation</dc:subject>
  <dc:creator>PptxGenJS</dc:creator>
  <cp:lastModifiedBy>PptxGenJS</cp:lastModifiedBy>
  <cp:revision>1</cp:revision>
  <dcterms:created xsi:type="dcterms:W3CDTF">2026-06-01T12:46:34Z</dcterms:created>
  <dcterms:modified xsi:type="dcterms:W3CDTF">2026-06-01T12:46:34Z</dcterms:modified>
</cp:coreProperties>
</file>